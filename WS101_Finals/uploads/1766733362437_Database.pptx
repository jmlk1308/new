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DM Sans Bold" charset="1" panose="00000000000000000000"/>
      <p:regular r:id="rId20"/>
    </p:embeddedFont>
    <p:embeddedFont>
      <p:font typeface="DM Sans" charset="1" panose="00000000000000000000"/>
      <p:regular r:id="rId21"/>
    </p:embeddedFont>
    <p:embeddedFont>
      <p:font typeface="Cooper Hewitt Bold" charset="1" panose="00000000000000000000"/>
      <p:regular r:id="rId22"/>
    </p:embeddedFont>
    <p:embeddedFont>
      <p:font typeface="Cooper Hewitt" charset="1" panose="00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media/image21.png" Type="http://schemas.openxmlformats.org/officeDocument/2006/relationships/image"/><Relationship Id="rId13" Target="../media/image22.png" Type="http://schemas.openxmlformats.org/officeDocument/2006/relationships/image"/><Relationship Id="rId14" Target="../media/image23.svg" Type="http://schemas.openxmlformats.org/officeDocument/2006/relationships/image"/><Relationship Id="rId15" Target="../media/image24.png" Type="http://schemas.openxmlformats.org/officeDocument/2006/relationships/image"/><Relationship Id="rId16" Target="../media/image25.png" Type="http://schemas.openxmlformats.org/officeDocument/2006/relationships/image"/><Relationship Id="rId17" Target="../media/image2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2.png" Type="http://schemas.openxmlformats.org/officeDocument/2006/relationships/image"/><Relationship Id="rId7" Target="https://media-public.canva.com/E_pBk/MAD3U_E_pBk/1/tl.png" TargetMode="External" Type="http://schemas.openxmlformats.org/officeDocument/2006/relationships/hyperlink"/><Relationship Id="rId8" Target="../media/image3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4.png" Type="http://schemas.openxmlformats.org/officeDocument/2006/relationships/image"/><Relationship Id="rId7" Target="../media/image3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11" Target="../media/image41.svg" Type="http://schemas.openxmlformats.org/officeDocument/2006/relationships/image"/><Relationship Id="rId12" Target="../media/image42.png" Type="http://schemas.openxmlformats.org/officeDocument/2006/relationships/image"/><Relationship Id="rId13" Target="../media/image4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6.png" Type="http://schemas.openxmlformats.org/officeDocument/2006/relationships/image"/><Relationship Id="rId7" Target="../media/image37.svg" Type="http://schemas.openxmlformats.org/officeDocument/2006/relationships/image"/><Relationship Id="rId8" Target="../media/image38.png" Type="http://schemas.openxmlformats.org/officeDocument/2006/relationships/image"/><Relationship Id="rId9" Target="../media/image3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22887" y="-4247682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69" y="0"/>
                </a:lnTo>
                <a:lnTo>
                  <a:pt x="19258069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5075" y="1028700"/>
            <a:ext cx="604457" cy="608886"/>
          </a:xfrm>
          <a:custGeom>
            <a:avLst/>
            <a:gdLst/>
            <a:ahLst/>
            <a:cxnLst/>
            <a:rect r="r" b="b" t="t" l="l"/>
            <a:pathLst>
              <a:path h="608886" w="604457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522406" y="2707441"/>
            <a:ext cx="7803269" cy="5347823"/>
            <a:chOff x="0" y="0"/>
            <a:chExt cx="10404359" cy="71304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349735" y="0"/>
              <a:ext cx="4935457" cy="6298147"/>
            </a:xfrm>
            <a:custGeom>
              <a:avLst/>
              <a:gdLst/>
              <a:ahLst/>
              <a:cxnLst/>
              <a:rect r="r" b="b" t="t" l="l"/>
              <a:pathLst>
                <a:path h="6298147" w="4935457">
                  <a:moveTo>
                    <a:pt x="0" y="0"/>
                  </a:moveTo>
                  <a:lnTo>
                    <a:pt x="4935457" y="0"/>
                  </a:lnTo>
                  <a:lnTo>
                    <a:pt x="4935457" y="6298147"/>
                  </a:lnTo>
                  <a:lnTo>
                    <a:pt x="0" y="62981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3939452"/>
              <a:ext cx="4957736" cy="3190979"/>
            </a:xfrm>
            <a:custGeom>
              <a:avLst/>
              <a:gdLst/>
              <a:ahLst/>
              <a:cxnLst/>
              <a:rect r="r" b="b" t="t" l="l"/>
              <a:pathLst>
                <a:path h="3190979" w="4957736">
                  <a:moveTo>
                    <a:pt x="0" y="0"/>
                  </a:moveTo>
                  <a:lnTo>
                    <a:pt x="4957736" y="0"/>
                  </a:lnTo>
                  <a:lnTo>
                    <a:pt x="4957736" y="3190979"/>
                  </a:lnTo>
                  <a:lnTo>
                    <a:pt x="0" y="31909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561431" y="1657297"/>
              <a:ext cx="3842929" cy="5257738"/>
            </a:xfrm>
            <a:custGeom>
              <a:avLst/>
              <a:gdLst/>
              <a:ahLst/>
              <a:cxnLst/>
              <a:rect r="r" b="b" t="t" l="l"/>
              <a:pathLst>
                <a:path h="5257738" w="3842929">
                  <a:moveTo>
                    <a:pt x="0" y="0"/>
                  </a:moveTo>
                  <a:lnTo>
                    <a:pt x="3842928" y="0"/>
                  </a:lnTo>
                  <a:lnTo>
                    <a:pt x="3842928" y="5257738"/>
                  </a:lnTo>
                  <a:lnTo>
                    <a:pt x="0" y="5257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855030" y="1057275"/>
            <a:ext cx="2221346" cy="700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SCIENCE</a:t>
            </a:r>
          </a:p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TECHNOLOGY </a:t>
            </a:r>
          </a:p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SOCIETY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19860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24041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SERVICE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528628" y="1111629"/>
            <a:ext cx="110573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923945" y="1111629"/>
            <a:ext cx="133535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CONTACT US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01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28700" y="2809569"/>
            <a:ext cx="9904619" cy="4568231"/>
            <a:chOff x="0" y="0"/>
            <a:chExt cx="13206159" cy="6090974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1365016"/>
              <a:ext cx="13206159" cy="29779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678"/>
                </a:lnSpc>
              </a:pPr>
              <a:r>
                <a:rPr lang="en-US" sz="11913" b="true">
                  <a:solidFill>
                    <a:srgbClr val="343434"/>
                  </a:solidFill>
                  <a:latin typeface="Cooper Hewitt Bold"/>
                  <a:ea typeface="Cooper Hewitt Bold"/>
                  <a:cs typeface="Cooper Hewitt Bold"/>
                  <a:sym typeface="Cooper Hewitt Bold"/>
                </a:rPr>
                <a:t>INFORMATION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3473548"/>
              <a:ext cx="11502598" cy="26174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649"/>
                </a:lnSpc>
              </a:pPr>
              <a:r>
                <a:rPr lang="en-US" sz="10463" b="true">
                  <a:solidFill>
                    <a:srgbClr val="343434"/>
                  </a:solidFill>
                  <a:latin typeface="Cooper Hewitt Bold"/>
                  <a:ea typeface="Cooper Hewitt Bold"/>
                  <a:cs typeface="Cooper Hewitt Bold"/>
                  <a:sym typeface="Cooper Hewitt Bold"/>
                </a:rPr>
                <a:t>AGE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-495300"/>
              <a:ext cx="11502598" cy="26174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649"/>
                </a:lnSpc>
              </a:pPr>
              <a:r>
                <a:rPr lang="en-US" sz="10463" b="true">
                  <a:solidFill>
                    <a:srgbClr val="343434"/>
                  </a:solidFill>
                  <a:latin typeface="Cooper Hewitt Bold"/>
                  <a:ea typeface="Cooper Hewitt Bold"/>
                  <a:cs typeface="Cooper Hewitt Bold"/>
                  <a:sym typeface="Cooper Hewitt Bold"/>
                </a:rPr>
                <a:t>THE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8700" y="7918156"/>
            <a:ext cx="8427331" cy="849312"/>
            <a:chOff x="0" y="0"/>
            <a:chExt cx="11236441" cy="1132416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28575"/>
              <a:ext cx="10390756" cy="3647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380"/>
                </a:lnSpc>
              </a:pPr>
              <a:r>
                <a:rPr lang="en-US" sz="1700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Presented by: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841110" y="368088"/>
              <a:ext cx="10390756" cy="3647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380"/>
                </a:lnSpc>
              </a:pPr>
              <a:r>
                <a:rPr lang="en-US" sz="1700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Ramosa, Jummel Mark M.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845685" y="767715"/>
              <a:ext cx="10390756" cy="3647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380"/>
                </a:lnSpc>
              </a:pPr>
              <a:r>
                <a:rPr lang="en-US" sz="1700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Sarzata, Kurt Harvy L.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5075" y="1028700"/>
            <a:ext cx="604457" cy="608886"/>
          </a:xfrm>
          <a:custGeom>
            <a:avLst/>
            <a:gdLst/>
            <a:ahLst/>
            <a:cxnLst/>
            <a:rect r="r" b="b" t="t" l="l"/>
            <a:pathLst>
              <a:path h="608886" w="604457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145964" y="2058185"/>
            <a:ext cx="5610468" cy="6246472"/>
          </a:xfrm>
          <a:custGeom>
            <a:avLst/>
            <a:gdLst/>
            <a:ahLst/>
            <a:cxnLst/>
            <a:rect r="r" b="b" t="t" l="l"/>
            <a:pathLst>
              <a:path h="6246472" w="5610468">
                <a:moveTo>
                  <a:pt x="0" y="0"/>
                </a:moveTo>
                <a:lnTo>
                  <a:pt x="5610467" y="0"/>
                </a:lnTo>
                <a:lnTo>
                  <a:pt x="5610467" y="6246472"/>
                </a:lnTo>
                <a:lnTo>
                  <a:pt x="0" y="62464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011644"/>
            <a:ext cx="9147234" cy="1131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57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THE INFORMATION AGE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29397" y="997046"/>
            <a:ext cx="1829370" cy="700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SCIENCE</a:t>
            </a:r>
          </a:p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TECHNOLOGY</a:t>
            </a:r>
          </a:p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SOCIETY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319860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424041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SERVICE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528628" y="1111629"/>
            <a:ext cx="110573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923945" y="1111629"/>
            <a:ext cx="133535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CONTACT US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29397" y="3676613"/>
            <a:ext cx="9451789" cy="86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6054" indent="-268027" lvl="1">
              <a:lnSpc>
                <a:spcPts val="3476"/>
              </a:lnSpc>
              <a:buFont typeface="Arial"/>
              <a:buChar char="•"/>
            </a:pPr>
            <a:r>
              <a:rPr lang="en-US" sz="2482" spc="27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It is believed to have started in the last quarter of the </a:t>
            </a:r>
            <a:r>
              <a:rPr lang="en-US" b="true" sz="2482" spc="27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20</a:t>
            </a:r>
            <a:r>
              <a:rPr lang="en-US" b="true" sz="2482" spc="27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th</a:t>
            </a:r>
            <a:r>
              <a:rPr lang="en-US" b="true" sz="2482" spc="27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 century.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29397" y="4796023"/>
            <a:ext cx="9451789" cy="1737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6054" indent="-268027" lvl="1">
              <a:lnSpc>
                <a:spcPts val="3476"/>
              </a:lnSpc>
              <a:buFont typeface="Arial"/>
              <a:buChar char="•"/>
            </a:pPr>
            <a:r>
              <a:rPr lang="en-US" sz="2482" spc="27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It is characterized by rapid, effortless access, and management information through written or digital publication with the use of computer and</a:t>
            </a:r>
            <a:r>
              <a:rPr lang="en-US" sz="2482" spc="27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computer networks.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29397" y="6790357"/>
            <a:ext cx="9451789" cy="86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6054" indent="-268027" lvl="1">
              <a:lnSpc>
                <a:spcPts val="3476"/>
              </a:lnSpc>
              <a:buFont typeface="Arial"/>
              <a:buChar char="•"/>
            </a:pPr>
            <a:r>
              <a:rPr lang="en-US" sz="2482" spc="27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It is also referred to as the </a:t>
            </a:r>
            <a:r>
              <a:rPr lang="en-US" b="true" sz="2482" spc="27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Digital Age</a:t>
            </a:r>
            <a:r>
              <a:rPr lang="en-US" sz="2482" spc="27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and the </a:t>
            </a:r>
            <a:r>
              <a:rPr lang="en-US" b="true" sz="2482" spc="27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New Media</a:t>
            </a:r>
            <a:r>
              <a:rPr lang="en-US" b="true" sz="2482" spc="27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 Age</a:t>
            </a:r>
            <a:r>
              <a:rPr lang="en-US" sz="2482" spc="27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29397" y="7908392"/>
            <a:ext cx="9451789" cy="42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6054" indent="-268027" lvl="1">
              <a:lnSpc>
                <a:spcPts val="3476"/>
              </a:lnSpc>
              <a:buFont typeface="Arial"/>
              <a:buChar char="•"/>
            </a:pPr>
            <a:r>
              <a:rPr lang="en-US" sz="2482" spc="27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Information gets ahead of us</a:t>
            </a:r>
            <a:r>
              <a:rPr lang="en-US" sz="2482" spc="27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29397" y="8645427"/>
            <a:ext cx="9451789" cy="361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6054" indent="-268027" lvl="1">
              <a:lnSpc>
                <a:spcPts val="2830"/>
              </a:lnSpc>
              <a:buFont typeface="Arial"/>
              <a:buChar char="•"/>
            </a:pPr>
            <a:r>
              <a:rPr lang="en-US" b="true" sz="2482" spc="27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James R. Messenger</a:t>
            </a:r>
            <a:r>
              <a:rPr lang="en-US" sz="2482" spc="27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proposed The Information Age in 1982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66520" y="0"/>
            <a:ext cx="14567255" cy="14567255"/>
          </a:xfrm>
          <a:custGeom>
            <a:avLst/>
            <a:gdLst/>
            <a:ahLst/>
            <a:cxnLst/>
            <a:rect r="r" b="b" t="t" l="l"/>
            <a:pathLst>
              <a:path h="14567255" w="14567255">
                <a:moveTo>
                  <a:pt x="0" y="0"/>
                </a:moveTo>
                <a:lnTo>
                  <a:pt x="14567255" y="0"/>
                </a:lnTo>
                <a:lnTo>
                  <a:pt x="14567255" y="14567255"/>
                </a:lnTo>
                <a:lnTo>
                  <a:pt x="0" y="145672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55075" y="1028700"/>
            <a:ext cx="604457" cy="608886"/>
          </a:xfrm>
          <a:custGeom>
            <a:avLst/>
            <a:gdLst/>
            <a:ahLst/>
            <a:cxnLst/>
            <a:rect r="r" b="b" t="t" l="l"/>
            <a:pathLst>
              <a:path h="608886" w="604457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258274" y="2671701"/>
            <a:ext cx="9451789" cy="794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75"/>
              </a:lnSpc>
            </a:pPr>
            <a:r>
              <a:rPr lang="en-US" b="true" sz="3982" spc="43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Richard Wurman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441377" y="3637337"/>
            <a:ext cx="9451789" cy="48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22412" indent="-311206" lvl="1">
              <a:lnSpc>
                <a:spcPts val="4036"/>
              </a:lnSpc>
              <a:buFont typeface="Arial"/>
              <a:buChar char="•"/>
            </a:pPr>
            <a:r>
              <a:rPr lang="en-US" b="true" sz="2882" spc="3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“Information Anxiety” </a:t>
            </a:r>
            <a:r>
              <a:rPr lang="en-US" sz="2882" spc="3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by  Richard Wurman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441377" y="4390452"/>
            <a:ext cx="9451789" cy="99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22412" indent="-311206" lvl="1">
              <a:lnSpc>
                <a:spcPts val="4036"/>
              </a:lnSpc>
              <a:buFont typeface="Arial"/>
              <a:buChar char="•"/>
            </a:pPr>
            <a:r>
              <a:rPr lang="en-US" sz="2882" spc="3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Information became the currency in the Business World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441377" y="6463531"/>
            <a:ext cx="9451789" cy="1231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22412" indent="-311206" lvl="1">
              <a:lnSpc>
                <a:spcPts val="3286"/>
              </a:lnSpc>
              <a:buFont typeface="Arial"/>
              <a:buChar char="•"/>
            </a:pPr>
            <a:r>
              <a:rPr lang="en-US" sz="2882" spc="3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Information was the preferred medium of exchange and the information served as information officers.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84373" y="3135796"/>
            <a:ext cx="7957004" cy="7151204"/>
          </a:xfrm>
          <a:custGeom>
            <a:avLst/>
            <a:gdLst/>
            <a:ahLst/>
            <a:cxnLst/>
            <a:rect r="r" b="b" t="t" l="l"/>
            <a:pathLst>
              <a:path h="7151204" w="7957004">
                <a:moveTo>
                  <a:pt x="0" y="0"/>
                </a:moveTo>
                <a:lnTo>
                  <a:pt x="7957004" y="0"/>
                </a:lnTo>
                <a:lnTo>
                  <a:pt x="7957004" y="7151204"/>
                </a:lnTo>
                <a:lnTo>
                  <a:pt x="0" y="71512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3654" t="0" r="-38626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1933833"/>
            <a:ext cx="8115300" cy="92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80"/>
              </a:lnSpc>
            </a:pPr>
            <a:r>
              <a:rPr lang="en-US" sz="47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THE INFORMATION AGE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29397" y="997046"/>
            <a:ext cx="1829370" cy="700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SCIENCE</a:t>
            </a:r>
          </a:p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TECHNOLOGY</a:t>
            </a:r>
          </a:p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SOCIETY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19860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424041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SERVICE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528628" y="1111629"/>
            <a:ext cx="110573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923945" y="1111629"/>
            <a:ext cx="133535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CONTACT US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45558" y="5657916"/>
            <a:ext cx="9451789" cy="462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96"/>
              </a:lnSpc>
            </a:pPr>
            <a:r>
              <a:rPr lang="en-US" b="true" sz="2782" spc="3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INFORMATI0N = POWER = SUCCESS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5075" y="1028700"/>
            <a:ext cx="604457" cy="608886"/>
          </a:xfrm>
          <a:custGeom>
            <a:avLst/>
            <a:gdLst/>
            <a:ahLst/>
            <a:cxnLst/>
            <a:rect r="r" b="b" t="t" l="l"/>
            <a:pathLst>
              <a:path h="608886" w="604457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69599" y="3393254"/>
            <a:ext cx="2403708" cy="2144353"/>
          </a:xfrm>
          <a:custGeom>
            <a:avLst/>
            <a:gdLst/>
            <a:ahLst/>
            <a:cxnLst/>
            <a:rect r="r" b="b" t="t" l="l"/>
            <a:pathLst>
              <a:path h="2144353" w="2403708">
                <a:moveTo>
                  <a:pt x="0" y="0"/>
                </a:moveTo>
                <a:lnTo>
                  <a:pt x="2403707" y="0"/>
                </a:lnTo>
                <a:lnTo>
                  <a:pt x="2403707" y="2144353"/>
                </a:lnTo>
                <a:lnTo>
                  <a:pt x="0" y="21443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918941" y="4888046"/>
            <a:ext cx="1603739" cy="1807493"/>
          </a:xfrm>
          <a:custGeom>
            <a:avLst/>
            <a:gdLst/>
            <a:ahLst/>
            <a:cxnLst/>
            <a:rect r="r" b="b" t="t" l="l"/>
            <a:pathLst>
              <a:path h="1807493" w="1603739">
                <a:moveTo>
                  <a:pt x="0" y="0"/>
                </a:moveTo>
                <a:lnTo>
                  <a:pt x="1603739" y="0"/>
                </a:lnTo>
                <a:lnTo>
                  <a:pt x="1603739" y="1807493"/>
                </a:lnTo>
                <a:lnTo>
                  <a:pt x="0" y="18074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107053" y="5229941"/>
            <a:ext cx="1962546" cy="1532295"/>
          </a:xfrm>
          <a:custGeom>
            <a:avLst/>
            <a:gdLst/>
            <a:ahLst/>
            <a:cxnLst/>
            <a:rect r="r" b="b" t="t" l="l"/>
            <a:pathLst>
              <a:path h="1532295" w="1962546">
                <a:moveTo>
                  <a:pt x="0" y="0"/>
                </a:moveTo>
                <a:lnTo>
                  <a:pt x="1962546" y="0"/>
                </a:lnTo>
                <a:lnTo>
                  <a:pt x="1962546" y="1532295"/>
                </a:lnTo>
                <a:lnTo>
                  <a:pt x="0" y="153229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091217" y="5500302"/>
            <a:ext cx="3086291" cy="2390473"/>
          </a:xfrm>
          <a:custGeom>
            <a:avLst/>
            <a:gdLst/>
            <a:ahLst/>
            <a:cxnLst/>
            <a:rect r="r" b="b" t="t" l="l"/>
            <a:pathLst>
              <a:path h="2390473" w="3086291">
                <a:moveTo>
                  <a:pt x="0" y="0"/>
                </a:moveTo>
                <a:lnTo>
                  <a:pt x="3086291" y="0"/>
                </a:lnTo>
                <a:lnTo>
                  <a:pt x="3086291" y="2390473"/>
                </a:lnTo>
                <a:lnTo>
                  <a:pt x="0" y="239047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455903" y="7305676"/>
            <a:ext cx="1651150" cy="1838324"/>
          </a:xfrm>
          <a:custGeom>
            <a:avLst/>
            <a:gdLst/>
            <a:ahLst/>
            <a:cxnLst/>
            <a:rect r="r" b="b" t="t" l="l"/>
            <a:pathLst>
              <a:path h="1838324" w="1651150">
                <a:moveTo>
                  <a:pt x="0" y="0"/>
                </a:moveTo>
                <a:lnTo>
                  <a:pt x="1651150" y="0"/>
                </a:lnTo>
                <a:lnTo>
                  <a:pt x="1651150" y="1838324"/>
                </a:lnTo>
                <a:lnTo>
                  <a:pt x="0" y="183832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168482" y="7431853"/>
            <a:ext cx="2830585" cy="2048314"/>
          </a:xfrm>
          <a:custGeom>
            <a:avLst/>
            <a:gdLst/>
            <a:ahLst/>
            <a:cxnLst/>
            <a:rect r="r" b="b" t="t" l="l"/>
            <a:pathLst>
              <a:path h="2048314" w="2830585">
                <a:moveTo>
                  <a:pt x="0" y="0"/>
                </a:moveTo>
                <a:lnTo>
                  <a:pt x="2830585" y="0"/>
                </a:lnTo>
                <a:lnTo>
                  <a:pt x="2830585" y="2048314"/>
                </a:lnTo>
                <a:lnTo>
                  <a:pt x="0" y="204831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659532" y="3028234"/>
            <a:ext cx="8391557" cy="5730877"/>
            <a:chOff x="0" y="0"/>
            <a:chExt cx="11188743" cy="7641169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47625"/>
              <a:ext cx="11188743" cy="5471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539748" indent="-269874" lvl="1">
                <a:lnSpc>
                  <a:spcPts val="3499"/>
                </a:lnSpc>
                <a:buFont typeface="Arial"/>
                <a:buChar char="•"/>
              </a:pPr>
              <a:r>
                <a:rPr lang="en-US" b="true" sz="2499">
                  <a:solidFill>
                    <a:srgbClr val="34343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AI or Artificial Intelligence and Machine Learning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972609"/>
              <a:ext cx="8625058" cy="5471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539748" indent="-269874" lvl="1">
                <a:lnSpc>
                  <a:spcPts val="3499"/>
                </a:lnSpc>
                <a:buFont typeface="Arial"/>
                <a:buChar char="•"/>
              </a:pPr>
              <a:r>
                <a:rPr lang="en-US" b="true" sz="2499">
                  <a:solidFill>
                    <a:srgbClr val="34343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Robotics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992842"/>
              <a:ext cx="8625058" cy="5471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539748" indent="-269874" lvl="1">
                <a:lnSpc>
                  <a:spcPts val="3499"/>
                </a:lnSpc>
                <a:buFont typeface="Arial"/>
                <a:buChar char="•"/>
              </a:pPr>
              <a:r>
                <a:rPr lang="en-US" b="true" sz="2499">
                  <a:solidFill>
                    <a:srgbClr val="34343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Cloud and Edge Computing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3013076"/>
              <a:ext cx="8625058" cy="5471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539748" indent="-269874" lvl="1">
                <a:lnSpc>
                  <a:spcPts val="3499"/>
                </a:lnSpc>
                <a:buFont typeface="Arial"/>
                <a:buChar char="•"/>
              </a:pPr>
              <a:r>
                <a:rPr lang="en-US" b="true" sz="2499">
                  <a:solidFill>
                    <a:srgbClr val="34343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Automation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4033310"/>
              <a:ext cx="8625058" cy="5471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539748" indent="-269874" lvl="1">
                <a:lnSpc>
                  <a:spcPts val="3499"/>
                </a:lnSpc>
                <a:buFont typeface="Arial"/>
                <a:buChar char="•"/>
              </a:pPr>
              <a:r>
                <a:rPr lang="en-US" b="true" sz="2499">
                  <a:solidFill>
                    <a:srgbClr val="34343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Blockchain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5053543"/>
              <a:ext cx="8625058" cy="5471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539748" indent="-269874" lvl="1">
                <a:lnSpc>
                  <a:spcPts val="3499"/>
                </a:lnSpc>
                <a:buFont typeface="Arial"/>
                <a:buChar char="•"/>
              </a:pPr>
              <a:r>
                <a:rPr lang="en-US" b="true" sz="2499">
                  <a:solidFill>
                    <a:srgbClr val="34343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Software and Application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6073777"/>
              <a:ext cx="8625058" cy="5471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539748" indent="-269874" lvl="1">
                <a:lnSpc>
                  <a:spcPts val="3499"/>
                </a:lnSpc>
                <a:buFont typeface="Arial"/>
                <a:buChar char="•"/>
              </a:pPr>
              <a:r>
                <a:rPr lang="en-US" b="true" sz="2499">
                  <a:solidFill>
                    <a:srgbClr val="34343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Outsourcing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7094011"/>
              <a:ext cx="8625058" cy="5471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539748" indent="-269874" lvl="1">
                <a:lnSpc>
                  <a:spcPts val="3499"/>
                </a:lnSpc>
                <a:buFont typeface="Arial"/>
                <a:buChar char="•"/>
              </a:pPr>
              <a:r>
                <a:rPr lang="en-US" b="true" sz="2499">
                  <a:solidFill>
                    <a:srgbClr val="34343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Communication and Networking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0606339" y="3124359"/>
            <a:ext cx="1562143" cy="1562143"/>
          </a:xfrm>
          <a:custGeom>
            <a:avLst/>
            <a:gdLst/>
            <a:ahLst/>
            <a:cxnLst/>
            <a:rect r="r" b="b" t="t" l="l"/>
            <a:pathLst>
              <a:path h="1562143" w="1562143">
                <a:moveTo>
                  <a:pt x="0" y="0"/>
                </a:moveTo>
                <a:lnTo>
                  <a:pt x="1562143" y="0"/>
                </a:lnTo>
                <a:lnTo>
                  <a:pt x="1562143" y="1562143"/>
                </a:lnTo>
                <a:lnTo>
                  <a:pt x="0" y="156214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55075" y="1998887"/>
            <a:ext cx="15727731" cy="767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SEVERAL FIELDS OR DICIPLINES HAVE MERGE THESE FIELDS INCLUDE: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06339" y="1111346"/>
            <a:ext cx="1778790" cy="700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SCIENCE</a:t>
            </a:r>
          </a:p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TECHNOLOGY</a:t>
            </a:r>
          </a:p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SOCIETY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19860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424041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SERVICE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528628" y="1111629"/>
            <a:ext cx="110573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923945" y="1111629"/>
            <a:ext cx="133535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CONTACT US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5075" y="1028700"/>
            <a:ext cx="604457" cy="608886"/>
          </a:xfrm>
          <a:custGeom>
            <a:avLst/>
            <a:gdLst/>
            <a:ahLst/>
            <a:cxnLst/>
            <a:rect r="r" b="b" t="t" l="l"/>
            <a:pathLst>
              <a:path h="608886" w="604457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623534" y="1865419"/>
            <a:ext cx="4132897" cy="6143495"/>
          </a:xfrm>
          <a:custGeom>
            <a:avLst/>
            <a:gdLst/>
            <a:ahLst/>
            <a:cxnLst/>
            <a:rect r="r" b="b" t="t" l="l"/>
            <a:pathLst>
              <a:path h="6143495" w="4132897">
                <a:moveTo>
                  <a:pt x="0" y="0"/>
                </a:moveTo>
                <a:lnTo>
                  <a:pt x="4132897" y="0"/>
                </a:lnTo>
                <a:lnTo>
                  <a:pt x="4132897" y="6143495"/>
                </a:lnTo>
                <a:lnTo>
                  <a:pt x="0" y="61434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321182" y="3654429"/>
            <a:ext cx="3102858" cy="5004610"/>
          </a:xfrm>
          <a:custGeom>
            <a:avLst/>
            <a:gdLst/>
            <a:ahLst/>
            <a:cxnLst/>
            <a:rect r="r" b="b" t="t" l="l"/>
            <a:pathLst>
              <a:path h="5004610" w="3102858">
                <a:moveTo>
                  <a:pt x="0" y="0"/>
                </a:moveTo>
                <a:lnTo>
                  <a:pt x="3102859" y="0"/>
                </a:lnTo>
                <a:lnTo>
                  <a:pt x="3102859" y="5004610"/>
                </a:lnTo>
                <a:lnTo>
                  <a:pt x="0" y="50046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660645"/>
            <a:ext cx="12138572" cy="1098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55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SCIENCE AND INFORMATION AGE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62958" y="1057275"/>
            <a:ext cx="2264779" cy="700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SCIENCE </a:t>
            </a:r>
          </a:p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TECHNOLOGY</a:t>
            </a:r>
          </a:p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SOCIETY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319860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424041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SERVICE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528628" y="1111629"/>
            <a:ext cx="110573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923945" y="1111629"/>
            <a:ext cx="133535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CONTACT US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05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659532" y="3044944"/>
            <a:ext cx="7981175" cy="6223580"/>
            <a:chOff x="0" y="0"/>
            <a:chExt cx="10641567" cy="8298107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57150"/>
              <a:ext cx="9714045" cy="12831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604515" indent="-302257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Information Age affected the scientific community.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826608"/>
              <a:ext cx="10641567" cy="26039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604515" indent="-302257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·Bioinformatics, through this scientist apply the principles of computer science and statistical algorithms to store, process, and analyze extensive collection of data.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5033783"/>
              <a:ext cx="10641567" cy="32643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604515" indent="-302257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·The availability of wide range of information at hand also entails the call for responsible generation of information and proper citation and recognition of authors and publisher.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5075" y="1028700"/>
            <a:ext cx="604457" cy="608886"/>
          </a:xfrm>
          <a:custGeom>
            <a:avLst/>
            <a:gdLst/>
            <a:ahLst/>
            <a:cxnLst/>
            <a:rect r="r" b="b" t="t" l="l"/>
            <a:pathLst>
              <a:path h="608886" w="604457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51818" y="3100073"/>
            <a:ext cx="7183496" cy="5577005"/>
          </a:xfrm>
          <a:custGeom>
            <a:avLst/>
            <a:gdLst/>
            <a:ahLst/>
            <a:cxnLst/>
            <a:rect r="r" b="b" t="t" l="l"/>
            <a:pathLst>
              <a:path h="5577005" w="7183496">
                <a:moveTo>
                  <a:pt x="0" y="0"/>
                </a:moveTo>
                <a:lnTo>
                  <a:pt x="7183496" y="0"/>
                </a:lnTo>
                <a:lnTo>
                  <a:pt x="7183496" y="5577005"/>
                </a:lnTo>
                <a:lnTo>
                  <a:pt x="0" y="55770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970198"/>
            <a:ext cx="6874471" cy="1757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80"/>
              </a:lnSpc>
            </a:pPr>
            <a:r>
              <a:rPr lang="en-US" sz="47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INFORMATION AGE AND CYBERBULLYING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06339" y="997046"/>
            <a:ext cx="1660367" cy="700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SCIENCE</a:t>
            </a:r>
          </a:p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TECHNOLOGY</a:t>
            </a:r>
          </a:p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SOCIETY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319860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424041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SERVICE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528628" y="1111629"/>
            <a:ext cx="110573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923945" y="1111629"/>
            <a:ext cx="133535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CONTACT US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06339" y="4018347"/>
            <a:ext cx="6543798" cy="1471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5" indent="-302257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·Words are so powerful that they can either make or break people and relationships.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06339" y="5831425"/>
            <a:ext cx="6543798" cy="976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5" indent="-302257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·Social media has shaped recent events.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06339" y="7149204"/>
            <a:ext cx="6543798" cy="1471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5" indent="-302257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·It is but proper to visit the laws governing rights of people against cyberbullying.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5075" y="1028700"/>
            <a:ext cx="604457" cy="608886"/>
          </a:xfrm>
          <a:custGeom>
            <a:avLst/>
            <a:gdLst/>
            <a:ahLst/>
            <a:cxnLst/>
            <a:rect r="r" b="b" t="t" l="l"/>
            <a:pathLst>
              <a:path h="608886" w="604457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>
            <a:hlinkClick r:id="rId7" tooltip="https://media-public.canva.com/E_pBk/MAD3U_E_pBk/1/tl.png"/>
          </p:cNvPr>
          <p:cNvSpPr/>
          <p:nvPr/>
        </p:nvSpPr>
        <p:spPr>
          <a:xfrm flipH="false" flipV="false" rot="0">
            <a:off x="9740866" y="2924449"/>
            <a:ext cx="7366350" cy="5544853"/>
          </a:xfrm>
          <a:custGeom>
            <a:avLst/>
            <a:gdLst/>
            <a:ahLst/>
            <a:cxnLst/>
            <a:rect r="r" b="b" t="t" l="l"/>
            <a:pathLst>
              <a:path h="5544853" w="7366350">
                <a:moveTo>
                  <a:pt x="0" y="0"/>
                </a:moveTo>
                <a:lnTo>
                  <a:pt x="7366350" y="0"/>
                </a:lnTo>
                <a:lnTo>
                  <a:pt x="7366350" y="5544853"/>
                </a:lnTo>
                <a:lnTo>
                  <a:pt x="0" y="55448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945840" y="2978070"/>
            <a:ext cx="2122329" cy="1751886"/>
          </a:xfrm>
          <a:custGeom>
            <a:avLst/>
            <a:gdLst/>
            <a:ahLst/>
            <a:cxnLst/>
            <a:rect r="r" b="b" t="t" l="l"/>
            <a:pathLst>
              <a:path h="1751886" w="2122329">
                <a:moveTo>
                  <a:pt x="0" y="0"/>
                </a:moveTo>
                <a:lnTo>
                  <a:pt x="2122329" y="0"/>
                </a:lnTo>
                <a:lnTo>
                  <a:pt x="2122329" y="1751886"/>
                </a:lnTo>
                <a:lnTo>
                  <a:pt x="0" y="17518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2096969"/>
            <a:ext cx="8693913" cy="1757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80"/>
              </a:lnSpc>
            </a:pPr>
            <a:r>
              <a:rPr lang="en-US" sz="47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THE EMERGENCE OF FAKE NEWS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06339" y="997046"/>
            <a:ext cx="1497988" cy="700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SCIENCE</a:t>
            </a:r>
          </a:p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TECHNOLOGY</a:t>
            </a:r>
          </a:p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SOCIETY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319860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424041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SERVICE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528628" y="1111629"/>
            <a:ext cx="110573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923945" y="1111629"/>
            <a:ext cx="133535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CONTACT US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57304" y="4519566"/>
            <a:ext cx="6543798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If truthful news is available, so does fake news.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07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57304" y="6058172"/>
            <a:ext cx="6543798" cy="1552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One more factor that contributes to rapid dissemination of fake news is confirmation bias.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5075" y="1028700"/>
            <a:ext cx="604457" cy="608886"/>
          </a:xfrm>
          <a:custGeom>
            <a:avLst/>
            <a:gdLst/>
            <a:ahLst/>
            <a:cxnLst/>
            <a:rect r="r" b="b" t="t" l="l"/>
            <a:pathLst>
              <a:path h="608886" w="604457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80842">
            <a:off x="11304504" y="3959457"/>
            <a:ext cx="4560733" cy="5047089"/>
          </a:xfrm>
          <a:custGeom>
            <a:avLst/>
            <a:gdLst/>
            <a:ahLst/>
            <a:cxnLst/>
            <a:rect r="r" b="b" t="t" l="l"/>
            <a:pathLst>
              <a:path h="5047089" w="4560733">
                <a:moveTo>
                  <a:pt x="0" y="0"/>
                </a:moveTo>
                <a:lnTo>
                  <a:pt x="4560733" y="0"/>
                </a:lnTo>
                <a:lnTo>
                  <a:pt x="4560733" y="5047089"/>
                </a:lnTo>
                <a:lnTo>
                  <a:pt x="0" y="50470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96252">
            <a:off x="10756727" y="2369538"/>
            <a:ext cx="4212105" cy="1671862"/>
          </a:xfrm>
          <a:custGeom>
            <a:avLst/>
            <a:gdLst/>
            <a:ahLst/>
            <a:cxnLst/>
            <a:rect r="r" b="b" t="t" l="l"/>
            <a:pathLst>
              <a:path h="1671862" w="4212105">
                <a:moveTo>
                  <a:pt x="0" y="0"/>
                </a:moveTo>
                <a:lnTo>
                  <a:pt x="4212106" y="0"/>
                </a:lnTo>
                <a:lnTo>
                  <a:pt x="4212106" y="1671862"/>
                </a:lnTo>
                <a:lnTo>
                  <a:pt x="0" y="16718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3823" r="0" b="-3823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974931"/>
            <a:ext cx="11291160" cy="1209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HOW TO SPOT FAKE NEWS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06339" y="997046"/>
            <a:ext cx="1666630" cy="700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SCIENCE </a:t>
            </a:r>
          </a:p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TECHNOLOGY</a:t>
            </a:r>
          </a:p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SOCIETY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319860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424041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SERVICE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528628" y="1111629"/>
            <a:ext cx="110573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923945" y="1111629"/>
            <a:ext cx="133535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CONTACT US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06339" y="3849384"/>
            <a:ext cx="7337661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Fake news tends to spread as fast as contagious diseases are.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08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06339" y="5542864"/>
            <a:ext cx="7337661" cy="2600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So, it is just necessary to be guided and guarded from the ignorance and further damage that can be brought about by misinformation.</a:t>
            </a:r>
          </a:p>
          <a:p>
            <a:pPr algn="just">
              <a:lnSpc>
                <a:spcPts val="419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5075" y="1028700"/>
            <a:ext cx="604457" cy="608886"/>
          </a:xfrm>
          <a:custGeom>
            <a:avLst/>
            <a:gdLst/>
            <a:ahLst/>
            <a:cxnLst/>
            <a:rect r="r" b="b" t="t" l="l"/>
            <a:pathLst>
              <a:path h="608886" w="604457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051131"/>
            <a:ext cx="11291160" cy="92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80"/>
              </a:lnSpc>
            </a:pPr>
            <a:r>
              <a:rPr lang="en-US" sz="47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HOW TO SPOT FAKE NEWS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06339" y="997046"/>
            <a:ext cx="1666630" cy="700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SCIENCE </a:t>
            </a:r>
          </a:p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TECHNOLOGY</a:t>
            </a:r>
          </a:p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SOCIETY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319860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424041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SERVICE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528628" y="1111629"/>
            <a:ext cx="110573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923945" y="1111629"/>
            <a:ext cx="133535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CONTACT US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44399" y="2931874"/>
            <a:ext cx="14447224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The following practical tips form Nagler, C. (2017) of Harvard Division of Continuing Education can help us spot fake news.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09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77068" y="4099123"/>
            <a:ext cx="7337661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6" indent="-269873" lvl="1">
              <a:lnSpc>
                <a:spcPts val="3499"/>
              </a:lnSpc>
              <a:buAutoNum type="arabicPeriod" startAt="1"/>
            </a:pPr>
            <a:r>
              <a:rPr lang="en-US" b="true" sz="2499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Vet the publisher’s credibility.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69748" y="4635024"/>
            <a:ext cx="1348996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Try to consider these questions whenever we see an article that captures our attentions.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335067" y="8688704"/>
            <a:ext cx="12918495" cy="45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What is the publications points of view?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335067" y="7837250"/>
            <a:ext cx="12918495" cy="45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Who is the author?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3335067" y="5291357"/>
            <a:ext cx="13924233" cy="911226"/>
            <a:chOff x="0" y="0"/>
            <a:chExt cx="18565644" cy="1214968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47625"/>
              <a:ext cx="17224661" cy="5471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539746" indent="-269873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Would the publishing site meet the academic citation standard?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340983" y="667809"/>
              <a:ext cx="17224661" cy="5471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499"/>
                </a:lnSpc>
              </a:pPr>
              <a:r>
                <a:rPr lang="en-US" sz="24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Such as: </a:t>
              </a:r>
              <a:r>
                <a:rPr lang="en-US" sz="2499" b="true">
                  <a:solidFill>
                    <a:srgbClr val="34343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APA, MLA, Chicago/Turabian, and IEEE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335067" y="6621224"/>
            <a:ext cx="15957117" cy="844551"/>
            <a:chOff x="0" y="0"/>
            <a:chExt cx="21276156" cy="1126068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-47625"/>
              <a:ext cx="21276156" cy="5471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539746" indent="-269873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What is the domain name?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529261" y="578909"/>
              <a:ext cx="7486297" cy="5471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499"/>
                </a:lnSpc>
              </a:pPr>
              <a:r>
                <a:rPr lang="en-US" sz="24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Ex.</a:t>
              </a:r>
              <a:r>
                <a:rPr lang="en-US" sz="2499" b="true">
                  <a:solidFill>
                    <a:srgbClr val="34343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 https://www.foxnews.com/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5075" y="1028700"/>
            <a:ext cx="604457" cy="608886"/>
          </a:xfrm>
          <a:custGeom>
            <a:avLst/>
            <a:gdLst/>
            <a:ahLst/>
            <a:cxnLst/>
            <a:rect r="r" b="b" t="t" l="l"/>
            <a:pathLst>
              <a:path h="608886" w="604457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051131"/>
            <a:ext cx="11291160" cy="92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80"/>
              </a:lnSpc>
            </a:pPr>
            <a:r>
              <a:rPr lang="en-US" sz="47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HOW TO SPOT FAKE NEWS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06339" y="997046"/>
            <a:ext cx="1666630" cy="700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SCIENCE </a:t>
            </a:r>
          </a:p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TECHNOLOGY</a:t>
            </a:r>
          </a:p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SOCIETY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319860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424041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SERVICE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528628" y="1111629"/>
            <a:ext cx="110573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923945" y="1111629"/>
            <a:ext cx="133535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CONTACT US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44399" y="2931874"/>
            <a:ext cx="14447224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The following practical tips form Nagler, C. (2017) of Harvard Division of Continuing Education can help us spot fake news.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10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39654" y="4098449"/>
            <a:ext cx="7337661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2. </a:t>
            </a:r>
            <a:r>
              <a:rPr lang="en-US" sz="2499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Pay attentions to quality and timelines.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763600" y="4635024"/>
            <a:ext cx="13489963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Notice spelling errors and dramatic punctuations from the article. Check if the story is current or recycled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639654" y="5800250"/>
            <a:ext cx="7337661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3. </a:t>
            </a:r>
            <a:r>
              <a:rPr lang="en-US" sz="2499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Check the source and citation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63600" y="6336825"/>
            <a:ext cx="13489963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Notice spelling errors and dramatic punctuations from the article. Check if the story is current or recycled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101659" y="7407275"/>
            <a:ext cx="13489963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How did you find the article?</a:t>
            </a:r>
          </a:p>
          <a:p>
            <a:pPr algn="just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Who is (or is not) quoted, and what do they say?</a:t>
            </a:r>
          </a:p>
          <a:p>
            <a:pPr algn="just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Is the information available on other sites?</a:t>
            </a:r>
          </a:p>
          <a:p>
            <a:pPr algn="just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Can you perform reverse researches and images?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5075" y="1028700"/>
            <a:ext cx="604457" cy="608886"/>
          </a:xfrm>
          <a:custGeom>
            <a:avLst/>
            <a:gdLst/>
            <a:ahLst/>
            <a:cxnLst/>
            <a:rect r="r" b="b" t="t" l="l"/>
            <a:pathLst>
              <a:path h="608886" w="604457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33983" y="2744130"/>
            <a:ext cx="16420035" cy="387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08"/>
              </a:lnSpc>
            </a:pPr>
            <a:r>
              <a:rPr lang="en-US" b="true" sz="19362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QUIZ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06339" y="997046"/>
            <a:ext cx="1739027" cy="700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SCIENCE</a:t>
            </a:r>
          </a:p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TECHNOLOGY</a:t>
            </a:r>
          </a:p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SOCIETY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319860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424041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SERVICE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528628" y="1111629"/>
            <a:ext cx="110573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923945" y="1111629"/>
            <a:ext cx="133535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CONTACT US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5075" y="1028700"/>
            <a:ext cx="604457" cy="608886"/>
          </a:xfrm>
          <a:custGeom>
            <a:avLst/>
            <a:gdLst/>
            <a:ahLst/>
            <a:cxnLst/>
            <a:rect r="r" b="b" t="t" l="l"/>
            <a:pathLst>
              <a:path h="608886" w="604457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051131"/>
            <a:ext cx="11291160" cy="92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80"/>
              </a:lnSpc>
            </a:pPr>
            <a:r>
              <a:rPr lang="en-US" sz="47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QUIZ: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06339" y="997046"/>
            <a:ext cx="1666630" cy="700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SCIENCE </a:t>
            </a:r>
          </a:p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TECHNOLOGY</a:t>
            </a:r>
          </a:p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SOCIETY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319860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424041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SERVICE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528628" y="1111629"/>
            <a:ext cx="110573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923945" y="1111629"/>
            <a:ext cx="133535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CONTACT US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7139" y="3145316"/>
            <a:ext cx="1444722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I. Multiple Choice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12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806339" y="3777142"/>
            <a:ext cx="15050120" cy="5943601"/>
            <a:chOff x="0" y="0"/>
            <a:chExt cx="20066827" cy="7924801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691256" y="605367"/>
              <a:ext cx="9092292" cy="1849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799"/>
                </a:lnSpc>
              </a:pPr>
              <a:r>
                <a:rPr lang="en-US" sz="19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A. Early 20th century</a:t>
              </a:r>
            </a:p>
            <a:p>
              <a:pPr algn="just">
                <a:lnSpc>
                  <a:spcPts val="2799"/>
                </a:lnSpc>
              </a:pPr>
              <a:r>
                <a:rPr lang="en-US" sz="19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B. Last quarter of the 20th century</a:t>
              </a:r>
            </a:p>
            <a:p>
              <a:pPr algn="just">
                <a:lnSpc>
                  <a:spcPts val="2799"/>
                </a:lnSpc>
              </a:pPr>
              <a:r>
                <a:rPr lang="en-US" sz="19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C. 21st century</a:t>
              </a:r>
            </a:p>
            <a:p>
              <a:pPr algn="just">
                <a:lnSpc>
                  <a:spcPts val="2799"/>
                </a:lnSpc>
              </a:pPr>
              <a:r>
                <a:rPr lang="en-US" sz="19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D. 19th century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38100"/>
              <a:ext cx="9783548" cy="440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431799" indent="-215899" lvl="1">
                <a:lnSpc>
                  <a:spcPts val="2799"/>
                </a:lnSpc>
                <a:buAutoNum type="arabicPeriod" startAt="1"/>
              </a:pPr>
              <a:r>
                <a:rPr lang="en-US" sz="19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When is the Information Age believed to have started?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78952" y="2696634"/>
              <a:ext cx="9305613" cy="440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799"/>
                </a:lnSpc>
              </a:pPr>
              <a:r>
                <a:rPr lang="en-US" sz="19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2. What is another name for the Information Age?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691256" y="3340101"/>
              <a:ext cx="8993309" cy="1849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799"/>
                </a:lnSpc>
              </a:pPr>
              <a:r>
                <a:rPr lang="en-US" sz="19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A. Stone Age</a:t>
              </a:r>
            </a:p>
            <a:p>
              <a:pPr algn="just">
                <a:lnSpc>
                  <a:spcPts val="2799"/>
                </a:lnSpc>
              </a:pPr>
              <a:r>
                <a:rPr lang="en-US" sz="19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B. Industrial Age</a:t>
              </a:r>
            </a:p>
            <a:p>
              <a:pPr algn="just">
                <a:lnSpc>
                  <a:spcPts val="2799"/>
                </a:lnSpc>
              </a:pPr>
              <a:r>
                <a:rPr lang="en-US" sz="19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C. Digital Age</a:t>
              </a:r>
            </a:p>
            <a:p>
              <a:pPr algn="just">
                <a:lnSpc>
                  <a:spcPts val="2799"/>
                </a:lnSpc>
              </a:pPr>
              <a:r>
                <a:rPr lang="en-US" sz="19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D. Agricultural Age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78952" y="5431367"/>
              <a:ext cx="9305613" cy="440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799"/>
                </a:lnSpc>
              </a:pPr>
              <a:r>
                <a:rPr lang="en-US" sz="19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3. Who proposed the term The Information Age in 1982?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691256" y="6074834"/>
              <a:ext cx="8993309" cy="1849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799"/>
                </a:lnSpc>
              </a:pPr>
              <a:r>
                <a:rPr lang="en-US" sz="19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A. Richard Wurman</a:t>
              </a:r>
            </a:p>
            <a:p>
              <a:pPr algn="just">
                <a:lnSpc>
                  <a:spcPts val="2799"/>
                </a:lnSpc>
              </a:pPr>
              <a:r>
                <a:rPr lang="en-US" sz="19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B. Charles Babbage</a:t>
              </a:r>
            </a:p>
            <a:p>
              <a:pPr algn="just">
                <a:lnSpc>
                  <a:spcPts val="2799"/>
                </a:lnSpc>
              </a:pPr>
              <a:r>
                <a:rPr lang="en-US" sz="19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C. James R. Messenger</a:t>
              </a:r>
            </a:p>
            <a:p>
              <a:pPr algn="just">
                <a:lnSpc>
                  <a:spcPts val="2799"/>
                </a:lnSpc>
              </a:pPr>
              <a:r>
                <a:rPr lang="en-US" sz="19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D. Steve Jobs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0761214" y="-38100"/>
              <a:ext cx="9305613" cy="440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799"/>
                </a:lnSpc>
              </a:pPr>
              <a:r>
                <a:rPr lang="en-US" sz="19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4.  Who proposed the term The Information Age in 1982?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1073518" y="605367"/>
              <a:ext cx="8993309" cy="1849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799"/>
                </a:lnSpc>
              </a:pPr>
              <a:r>
                <a:rPr lang="en-US" sz="19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A. Artificial Intelligence</a:t>
              </a:r>
            </a:p>
            <a:p>
              <a:pPr algn="just">
                <a:lnSpc>
                  <a:spcPts val="2799"/>
                </a:lnSpc>
              </a:pPr>
              <a:r>
                <a:rPr lang="en-US" sz="19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B. Cloud Computing</a:t>
              </a:r>
            </a:p>
            <a:p>
              <a:pPr algn="just">
                <a:lnSpc>
                  <a:spcPts val="2799"/>
                </a:lnSpc>
              </a:pPr>
              <a:r>
                <a:rPr lang="en-US" sz="19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C. Agriculture</a:t>
              </a:r>
            </a:p>
            <a:p>
              <a:pPr algn="just">
                <a:lnSpc>
                  <a:spcPts val="2799"/>
                </a:lnSpc>
              </a:pPr>
              <a:r>
                <a:rPr lang="en-US" sz="19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D. Blockchain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0761214" y="2696634"/>
              <a:ext cx="9305613" cy="440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799"/>
                </a:lnSpc>
              </a:pPr>
              <a:r>
                <a:rPr lang="en-US" sz="19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5.  Who is the author of the book Information Anxiety?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1073518" y="3340101"/>
              <a:ext cx="8993309" cy="1849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799"/>
                </a:lnSpc>
              </a:pPr>
              <a:r>
                <a:rPr lang="en-US" sz="19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A. James R. Messenger</a:t>
              </a:r>
            </a:p>
            <a:p>
              <a:pPr algn="just">
                <a:lnSpc>
                  <a:spcPts val="2799"/>
                </a:lnSpc>
              </a:pPr>
              <a:r>
                <a:rPr lang="en-US" sz="19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B. Richard Wurman</a:t>
              </a:r>
            </a:p>
            <a:p>
              <a:pPr algn="just">
                <a:lnSpc>
                  <a:spcPts val="2799"/>
                </a:lnSpc>
              </a:pPr>
              <a:r>
                <a:rPr lang="en-US" sz="19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C. Charles Nagler</a:t>
              </a:r>
            </a:p>
            <a:p>
              <a:pPr algn="just">
                <a:lnSpc>
                  <a:spcPts val="2799"/>
                </a:lnSpc>
              </a:pPr>
              <a:r>
                <a:rPr lang="en-US" sz="19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D. Nicholas Carr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5075" y="1028700"/>
            <a:ext cx="604457" cy="608886"/>
          </a:xfrm>
          <a:custGeom>
            <a:avLst/>
            <a:gdLst/>
            <a:ahLst/>
            <a:cxnLst/>
            <a:rect r="r" b="b" t="t" l="l"/>
            <a:pathLst>
              <a:path h="608886" w="604457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051131"/>
            <a:ext cx="11291160" cy="92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80"/>
              </a:lnSpc>
            </a:pPr>
            <a:r>
              <a:rPr lang="en-US" sz="47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QUIZ: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06339" y="997046"/>
            <a:ext cx="1666630" cy="700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SCIENCE </a:t>
            </a:r>
          </a:p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TECHNOLOGY</a:t>
            </a:r>
          </a:p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SOCIETY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319860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424041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SERVICE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528628" y="1111629"/>
            <a:ext cx="110573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923945" y="1111629"/>
            <a:ext cx="133535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CONTACT US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7139" y="3126266"/>
            <a:ext cx="14447224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9"/>
              </a:lnSpc>
            </a:pPr>
            <a:r>
              <a:rPr lang="en-US" sz="3499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II. Enumeration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13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06339" y="4069714"/>
            <a:ext cx="13828023" cy="1073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9"/>
              </a:lnSpc>
            </a:pPr>
            <a:r>
              <a:rPr lang="en-US" sz="30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6-7. Enumerate at least 2 fields or disciplines that merged with Information Technology during the Information Age.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06339" y="5657850"/>
            <a:ext cx="13828023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8-9. Enumerate the ways to spot fake news based on Nagler, C (2017)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5075" y="1028700"/>
            <a:ext cx="604457" cy="608886"/>
          </a:xfrm>
          <a:custGeom>
            <a:avLst/>
            <a:gdLst/>
            <a:ahLst/>
            <a:cxnLst/>
            <a:rect r="r" b="b" t="t" l="l"/>
            <a:pathLst>
              <a:path h="608886" w="604457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33983" y="2744130"/>
            <a:ext cx="16420035" cy="387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08"/>
              </a:lnSpc>
            </a:pPr>
            <a:r>
              <a:rPr lang="en-US" b="true" sz="19362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THANK YOU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1354446">
            <a:off x="15843106" y="2606653"/>
            <a:ext cx="1497033" cy="2339114"/>
          </a:xfrm>
          <a:custGeom>
            <a:avLst/>
            <a:gdLst/>
            <a:ahLst/>
            <a:cxnLst/>
            <a:rect r="r" b="b" t="t" l="l"/>
            <a:pathLst>
              <a:path h="2339114" w="1497033">
                <a:moveTo>
                  <a:pt x="0" y="0"/>
                </a:moveTo>
                <a:lnTo>
                  <a:pt x="1497033" y="0"/>
                </a:lnTo>
                <a:lnTo>
                  <a:pt x="1497033" y="2339115"/>
                </a:lnTo>
                <a:lnTo>
                  <a:pt x="0" y="23391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885027">
            <a:off x="5092713" y="1538468"/>
            <a:ext cx="2206219" cy="1740908"/>
          </a:xfrm>
          <a:custGeom>
            <a:avLst/>
            <a:gdLst/>
            <a:ahLst/>
            <a:cxnLst/>
            <a:rect r="r" b="b" t="t" l="l"/>
            <a:pathLst>
              <a:path h="1740908" w="2206219">
                <a:moveTo>
                  <a:pt x="0" y="0"/>
                </a:moveTo>
                <a:lnTo>
                  <a:pt x="2206220" y="0"/>
                </a:lnTo>
                <a:lnTo>
                  <a:pt x="2206220" y="1740907"/>
                </a:lnTo>
                <a:lnTo>
                  <a:pt x="0" y="17409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0" y="7769078"/>
            <a:ext cx="4202073" cy="2521244"/>
          </a:xfrm>
          <a:custGeom>
            <a:avLst/>
            <a:gdLst/>
            <a:ahLst/>
            <a:cxnLst/>
            <a:rect r="r" b="b" t="t" l="l"/>
            <a:pathLst>
              <a:path h="2521244" w="4202073">
                <a:moveTo>
                  <a:pt x="0" y="0"/>
                </a:moveTo>
                <a:lnTo>
                  <a:pt x="4202073" y="0"/>
                </a:lnTo>
                <a:lnTo>
                  <a:pt x="4202073" y="2521244"/>
                </a:lnTo>
                <a:lnTo>
                  <a:pt x="0" y="252124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839221">
            <a:off x="9785300" y="7617346"/>
            <a:ext cx="1170380" cy="2030628"/>
          </a:xfrm>
          <a:custGeom>
            <a:avLst/>
            <a:gdLst/>
            <a:ahLst/>
            <a:cxnLst/>
            <a:rect r="r" b="b" t="t" l="l"/>
            <a:pathLst>
              <a:path h="2030628" w="1170380">
                <a:moveTo>
                  <a:pt x="0" y="0"/>
                </a:moveTo>
                <a:lnTo>
                  <a:pt x="1170381" y="0"/>
                </a:lnTo>
                <a:lnTo>
                  <a:pt x="1170381" y="2030628"/>
                </a:lnTo>
                <a:lnTo>
                  <a:pt x="0" y="203062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1806339" y="997046"/>
            <a:ext cx="1739027" cy="700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SCIENCE</a:t>
            </a:r>
          </a:p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TECHNOLOGY</a:t>
            </a:r>
          </a:p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SOCIETY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19860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424041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SERVICE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528628" y="1111629"/>
            <a:ext cx="110573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923945" y="1111629"/>
            <a:ext cx="133535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CONTACT US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DAGj2LS4_co</dc:identifier>
  <dcterms:modified xsi:type="dcterms:W3CDTF">2011-08-01T06:04:30Z</dcterms:modified>
  <cp:revision>1</cp:revision>
  <dc:title>Pink and Purple Illustrative Computer Technology Presentation</dc:title>
</cp:coreProperties>
</file>